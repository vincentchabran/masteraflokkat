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59" r:id="rId7"/>
    <p:sldId id="260" r:id="rId8"/>
    <p:sldId id="261" r:id="rId9"/>
    <p:sldId id="266" r:id="rId10"/>
    <p:sldId id="262" r:id="rId11"/>
    <p:sldId id="263" r:id="rId12"/>
    <p:sldId id="265" r:id="rId13"/>
    <p:sldId id="264" r:id="rId14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88567B-FEA3-3AFD-7A3D-A0834D404585}" v="9" dt="2024-07-18T11:45:28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  <pc:picChg chg="add mod">
          <ac:chgData name="Georges MATHIO" userId="S::georges.mathio@estia.fr::1057b68d-d9cf-4cd5-bc4c-3fe68ec33e97" providerId="AD" clId="Web-{F53324A8-73B9-DE5A-2785-85B2E009E62C}" dt="2023-11-27T16:08:35.615" v="224" actId="1076"/>
          <ac:picMkLst>
            <pc:docMk/>
            <pc:sldMk cId="3870140485" sldId="265"/>
            <ac:picMk id="9" creationId="{658CB9B6-DEB4-E9E0-5341-E2CDB7731147}"/>
          </ac:picMkLst>
        </pc:picChg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  <pc:spChg chg="mod">
          <ac:chgData name="Georges MATHIO" userId="S::georges.mathio@estia.fr::1057b68d-d9cf-4cd5-bc4c-3fe68ec33e97" providerId="AD" clId="Web-{F53324A8-73B9-DE5A-2785-85B2E009E62C}" dt="2023-11-27T16:02:12.132" v="9" actId="20577"/>
          <ac:spMkLst>
            <pc:docMk/>
            <pc:sldMk cId="1487403360" sldId="266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F53324A8-73B9-DE5A-2785-85B2E009E62C}" dt="2023-11-27T16:07:53.332" v="220" actId="20577"/>
          <ac:spMkLst>
            <pc:docMk/>
            <pc:sldMk cId="1487403360" sldId="266"/>
            <ac:spMk id="3" creationId="{B5620FEA-FA3C-B3F6-C2FC-F9D51C3D46CB}"/>
          </ac:spMkLst>
        </pc:spChg>
        <pc:spChg chg="add mod">
          <ac:chgData name="Georges MATHIO" userId="S::georges.mathio@estia.fr::1057b68d-d9cf-4cd5-bc4c-3fe68ec33e97" providerId="AD" clId="Web-{F53324A8-73B9-DE5A-2785-85B2E009E62C}" dt="2023-11-27T16:07:09.721" v="213" actId="20577"/>
          <ac:spMkLst>
            <pc:docMk/>
            <pc:sldMk cId="1487403360" sldId="266"/>
            <ac:spMk id="8" creationId="{2896A83E-C8E6-846E-55FB-564BB0253107}"/>
          </ac:spMkLst>
        </pc:spChg>
        <pc:picChg chg="add mod">
          <ac:chgData name="Georges MATHIO" userId="S::georges.mathio@estia.fr::1057b68d-d9cf-4cd5-bc4c-3fe68ec33e97" providerId="AD" clId="Web-{F53324A8-73B9-DE5A-2785-85B2E009E62C}" dt="2023-11-27T16:07:13.050" v="214" actId="1076"/>
          <ac:picMkLst>
            <pc:docMk/>
            <pc:sldMk cId="1487403360" sldId="266"/>
            <ac:picMk id="6" creationId="{B062D537-4C69-6E39-1142-D3403EFDB13F}"/>
          </ac:picMkLst>
        </pc:picChg>
      </pc:sldChg>
    </pc:docChg>
  </pc:docChgLst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  <pc:spChg chg="del">
          <ac:chgData name="Georges MATHIO" userId="S::georges.mathio@estia.fr::1057b68d-d9cf-4cd5-bc4c-3fe68ec33e97" providerId="AD" clId="Web-{924963A7-0414-CE62-8997-2742A1CA60F5}" dt="2023-11-13T15:35:25.400" v="1"/>
          <ac:spMkLst>
            <pc:docMk/>
            <pc:sldMk cId="3870140485" sldId="265"/>
            <ac:spMk id="14" creationId="{7E30C4D4-D051-74FE-764D-C642BFBB0D1E}"/>
          </ac:spMkLst>
        </pc:spChg>
        <pc:picChg chg="add mod">
          <ac:chgData name="Georges MATHIO" userId="S::georges.mathio@estia.fr::1057b68d-d9cf-4cd5-bc4c-3fe68ec33e97" providerId="AD" clId="Web-{924963A7-0414-CE62-8997-2742A1CA60F5}" dt="2023-11-13T15:35:59.527" v="5" actId="1076"/>
          <ac:picMkLst>
            <pc:docMk/>
            <pc:sldMk cId="3870140485" sldId="265"/>
            <ac:picMk id="3" creationId="{06F4C4D2-9F1C-CD6B-4B73-EE49A7D3B1D3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24.489" v="24"/>
          <ac:picMkLst>
            <pc:docMk/>
            <pc:sldMk cId="3870140485" sldId="265"/>
            <ac:picMk id="4" creationId="{E1B1EE92-FEF5-B59F-FF7C-59AE3E5F636D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21.668" v="39"/>
          <ac:picMkLst>
            <pc:docMk/>
            <pc:sldMk cId="3870140485" sldId="265"/>
            <ac:picMk id="5" creationId="{6E7B4CB7-1ACC-3B8D-A2AC-67121D2D1D54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9.933" v="37" actId="14100"/>
          <ac:picMkLst>
            <pc:docMk/>
            <pc:sldMk cId="3870140485" sldId="265"/>
            <ac:picMk id="6" creationId="{AFD1BC7B-0643-7730-87DF-0B267565DBD2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38:32.001" v="23" actId="1076"/>
          <ac:picMkLst>
            <pc:docMk/>
            <pc:sldMk cId="3870140485" sldId="265"/>
            <ac:picMk id="7" creationId="{ECAA39C2-0BEB-1809-1D54-D866FF0A02B9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5.214" v="34" actId="1076"/>
          <ac:picMkLst>
            <pc:docMk/>
            <pc:sldMk cId="3870140485" sldId="265"/>
            <ac:picMk id="8" creationId="{9C7D0E36-32F1-F957-95DA-9343A920E6F0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36.474" v="28"/>
          <ac:picMkLst>
            <pc:docMk/>
            <pc:sldMk cId="3870140485" sldId="265"/>
            <ac:picMk id="9" creationId="{43534DCF-1D89-290E-124C-78DABBA75050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6.698" v="35" actId="1076"/>
          <ac:picMkLst>
            <pc:docMk/>
            <pc:sldMk cId="3870140485" sldId="265"/>
            <ac:picMk id="10" creationId="{1D0F61AE-DBDD-6F2E-B2C2-F6D92DB5AFF5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3.292" v="33" actId="1076"/>
          <ac:picMkLst>
            <pc:docMk/>
            <pc:sldMk cId="3870140485" sldId="265"/>
            <ac:picMk id="11" creationId="{3E316FDB-D3A3-36F9-21BC-7A3D45C8C097}"/>
          </ac:picMkLst>
        </pc:picChg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  <pc:grpChg chg="add mod">
          <ac:chgData name="Georges MATHIO" userId="1057b68d-d9cf-4cd5-bc4c-3fe68ec33e97" providerId="ADAL" clId="{82B82AAD-A176-4F9A-88D1-A56861D01535}" dt="2023-11-13T15:48:14.552" v="447" actId="1076"/>
          <ac:grpSpMkLst>
            <pc:docMk/>
            <pc:sldMk cId="3870140485" sldId="265"/>
            <ac:grpSpMk id="4" creationId="{899778FC-AAC1-FD58-AAC2-EC50C861657E}"/>
          </ac:grpSpMkLst>
        </pc:grp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3" creationId="{06F4C4D2-9F1C-CD6B-4B73-EE49A7D3B1D3}"/>
          </ac:picMkLst>
        </pc:picChg>
        <pc:picChg chg="mod">
          <ac:chgData name="Georges MATHIO" userId="1057b68d-d9cf-4cd5-bc4c-3fe68ec33e97" providerId="ADAL" clId="{82B82AAD-A176-4F9A-88D1-A56861D01535}" dt="2023-11-20T12:28:06.621" v="585" actId="14861"/>
          <ac:picMkLst>
            <pc:docMk/>
            <pc:sldMk cId="3870140485" sldId="265"/>
            <ac:picMk id="5" creationId="{6E7B4CB7-1ACC-3B8D-A2AC-67121D2D1D54}"/>
          </ac:picMkLst>
        </pc:picChg>
        <pc:picChg chg="mod">
          <ac:chgData name="Georges MATHIO" userId="1057b68d-d9cf-4cd5-bc4c-3fe68ec33e97" providerId="ADAL" clId="{82B82AAD-A176-4F9A-88D1-A56861D01535}" dt="2023-11-20T12:28:16.900" v="609" actId="14861"/>
          <ac:picMkLst>
            <pc:docMk/>
            <pc:sldMk cId="3870140485" sldId="265"/>
            <ac:picMk id="6" creationId="{AFD1BC7B-0643-7730-87DF-0B267565DBD2}"/>
          </ac:picMkLst>
        </pc:pic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7" creationId="{ECAA39C2-0BEB-1809-1D54-D866FF0A02B9}"/>
          </ac:picMkLst>
        </pc:picChg>
        <pc:picChg chg="mod">
          <ac:chgData name="Georges MATHIO" userId="1057b68d-d9cf-4cd5-bc4c-3fe68ec33e97" providerId="ADAL" clId="{82B82AAD-A176-4F9A-88D1-A56861D01535}" dt="2023-11-13T15:50:27.134" v="499" actId="1076"/>
          <ac:picMkLst>
            <pc:docMk/>
            <pc:sldMk cId="3870140485" sldId="265"/>
            <ac:picMk id="8" creationId="{9C7D0E36-32F1-F957-95DA-9343A920E6F0}"/>
          </ac:picMkLst>
        </pc:picChg>
        <pc:picChg chg="mod">
          <ac:chgData name="Georges MATHIO" userId="1057b68d-d9cf-4cd5-bc4c-3fe68ec33e97" providerId="ADAL" clId="{82B82AAD-A176-4F9A-88D1-A56861D01535}" dt="2023-11-27T16:09:30.504" v="795" actId="14861"/>
          <ac:picMkLst>
            <pc:docMk/>
            <pc:sldMk cId="3870140485" sldId="265"/>
            <ac:picMk id="9" creationId="{658CB9B6-DEB4-E9E0-5341-E2CDB7731147}"/>
          </ac:picMkLst>
        </pc:picChg>
        <pc:picChg chg="mod">
          <ac:chgData name="Georges MATHIO" userId="1057b68d-d9cf-4cd5-bc4c-3fe68ec33e97" providerId="ADAL" clId="{82B82AAD-A176-4F9A-88D1-A56861D01535}" dt="2023-11-13T15:50:16.549" v="495" actId="1076"/>
          <ac:picMkLst>
            <pc:docMk/>
            <pc:sldMk cId="3870140485" sldId="265"/>
            <ac:picMk id="10" creationId="{1D0F61AE-DBDD-6F2E-B2C2-F6D92DB5AFF5}"/>
          </ac:picMkLst>
        </pc:picChg>
        <pc:picChg chg="mod">
          <ac:chgData name="Georges MATHIO" userId="1057b68d-d9cf-4cd5-bc4c-3fe68ec33e97" providerId="ADAL" clId="{82B82AAD-A176-4F9A-88D1-A56861D01535}" dt="2023-11-13T15:45:01.004" v="398" actId="1440"/>
          <ac:picMkLst>
            <pc:docMk/>
            <pc:sldMk cId="3870140485" sldId="265"/>
            <ac:picMk id="11" creationId="{3E316FDB-D3A3-36F9-21BC-7A3D45C8C097}"/>
          </ac:picMkLst>
        </pc:picChg>
        <pc:picChg chg="add del mod">
          <ac:chgData name="Georges MATHIO" userId="1057b68d-d9cf-4cd5-bc4c-3fe68ec33e97" providerId="ADAL" clId="{82B82AAD-A176-4F9A-88D1-A56861D01535}" dt="2023-11-13T15:46:27.408" v="431"/>
          <ac:picMkLst>
            <pc:docMk/>
            <pc:sldMk cId="3870140485" sldId="265"/>
            <ac:picMk id="12" creationId="{720EEAD9-416F-2F55-286F-394FA280AC9C}"/>
          </ac:picMkLst>
        </pc:picChg>
        <pc:picChg chg="add mod">
          <ac:chgData name="Georges MATHIO" userId="1057b68d-d9cf-4cd5-bc4c-3fe68ec33e97" providerId="ADAL" clId="{82B82AAD-A176-4F9A-88D1-A56861D01535}" dt="2023-11-13T15:50:05.580" v="491" actId="1076"/>
          <ac:picMkLst>
            <pc:docMk/>
            <pc:sldMk cId="3870140485" sldId="265"/>
            <ac:picMk id="14" creationId="{FB23B469-3A5C-FB39-6A03-2461C6CC9EA3}"/>
          </ac:picMkLst>
        </pc:picChg>
        <pc:picChg chg="add mod">
          <ac:chgData name="Georges MATHIO" userId="1057b68d-d9cf-4cd5-bc4c-3fe68ec33e97" providerId="ADAL" clId="{82B82AAD-A176-4F9A-88D1-A56861D01535}" dt="2023-11-13T15:50:29.818" v="500" actId="1076"/>
          <ac:picMkLst>
            <pc:docMk/>
            <pc:sldMk cId="3870140485" sldId="265"/>
            <ac:picMk id="16" creationId="{7A31B893-5213-8984-13B7-F1DA243904C8}"/>
          </ac:picMkLst>
        </pc:picChg>
        <pc:picChg chg="add del mod">
          <ac:chgData name="Georges MATHIO" userId="1057b68d-d9cf-4cd5-bc4c-3fe68ec33e97" providerId="ADAL" clId="{82B82AAD-A176-4F9A-88D1-A56861D01535}" dt="2023-11-13T15:49:51.633" v="483"/>
          <ac:picMkLst>
            <pc:docMk/>
            <pc:sldMk cId="3870140485" sldId="265"/>
            <ac:picMk id="18" creationId="{50A60511-D9C2-DAF0-E96D-6DBD6373C7B7}"/>
          </ac:picMkLst>
        </pc:picChg>
        <pc:picChg chg="add mod">
          <ac:chgData name="Georges MATHIO" userId="1057b68d-d9cf-4cd5-bc4c-3fe68ec33e97" providerId="ADAL" clId="{82B82AAD-A176-4F9A-88D1-A56861D01535}" dt="2023-11-13T15:50:37.357" v="501" actId="1076"/>
          <ac:picMkLst>
            <pc:docMk/>
            <pc:sldMk cId="3870140485" sldId="265"/>
            <ac:picMk id="20" creationId="{37E546AF-B41D-4472-1647-46B7FAC2932A}"/>
          </ac:picMkLst>
        </pc:picChg>
        <pc:picChg chg="add mod">
          <ac:chgData name="Georges MATHIO" userId="1057b68d-d9cf-4cd5-bc4c-3fe68ec33e97" providerId="ADAL" clId="{82B82AAD-A176-4F9A-88D1-A56861D01535}" dt="2023-11-20T12:27:54.868" v="567" actId="14861"/>
          <ac:picMkLst>
            <pc:docMk/>
            <pc:sldMk cId="3870140485" sldId="265"/>
            <ac:picMk id="1026" creationId="{410E1A72-1BF0-FBAC-7E2C-D3E17A67B227}"/>
          </ac:picMkLst>
        </pc:picChg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36ED8768-8026-1B55-FA1B-B63F3BAF7377}" dt="2023-11-27T16:15:30.705" v="2" actId="20577"/>
          <ac:spMkLst>
            <pc:docMk/>
            <pc:sldMk cId="2482283123" sldId="259"/>
            <ac:spMk id="3" creationId="{B5620FEA-FA3C-B3F6-C2FC-F9D51C3D46CB}"/>
          </ac:spMkLst>
        </pc:spChg>
      </pc:sld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D188567B-FEA3-3AFD-7A3D-A0834D404585}" dt="2024-07-18T11:43:39.533" v="3" actId="1076"/>
          <ac:spMkLst>
            <pc:docMk/>
            <pc:sldMk cId="2482283123" sldId="259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D188567B-FEA3-3AFD-7A3D-A0834D404585}" dt="2024-07-18T11:45:28.694" v="5" actId="20577"/>
          <ac:spMkLst>
            <pc:docMk/>
            <pc:sldMk cId="1455700223" sldId="263"/>
            <ac:spMk id="14" creationId="{7E30C4D4-D051-74FE-764D-C642BFBB0D1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18/07/2024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18/07/2024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18/07/2024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18/07/2024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2004" y="2028661"/>
            <a:ext cx="4879529" cy="2013633"/>
          </a:xfrm>
        </p:spPr>
        <p:txBody>
          <a:bodyPr rtlCol="0">
            <a:normAutofit/>
          </a:bodyPr>
          <a:lstStyle/>
          <a:p>
            <a:pPr rtl="0"/>
            <a:r>
              <a:rPr lang="en-GB" sz="7200">
                <a:cs typeface="Calibri Light"/>
              </a:rPr>
              <a:t>DEVOPS</a:t>
            </a:r>
            <a:endParaRPr lang="en-GB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3807" y="4332070"/>
            <a:ext cx="7197726" cy="1405467"/>
          </a:xfrm>
        </p:spPr>
        <p:txBody>
          <a:bodyPr rtlCol="0">
            <a:normAutofit/>
          </a:bodyPr>
          <a:lstStyle/>
          <a:p>
            <a:r>
              <a:rPr lang="en-GB" sz="2800">
                <a:cs typeface="Calibri"/>
              </a:rPr>
              <a:t>General concepts</a:t>
            </a:r>
            <a:endParaRPr lang="en-US" sz="28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45" y="0"/>
            <a:ext cx="10131425" cy="1456267"/>
          </a:xfrm>
        </p:spPr>
        <p:txBody>
          <a:bodyPr/>
          <a:lstStyle/>
          <a:p>
            <a:r>
              <a:rPr lang="fr-FR"/>
              <a:t>« </a:t>
            </a:r>
            <a:r>
              <a:rPr lang="fr-FR" err="1"/>
              <a:t>traditional</a:t>
            </a:r>
            <a:r>
              <a:rPr lang="fr-FR"/>
              <a:t> » software teams organisation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185E7B7-BF77-8FA5-F450-22EF6CADB3AF}"/>
              </a:ext>
            </a:extLst>
          </p:cNvPr>
          <p:cNvSpPr/>
          <p:nvPr/>
        </p:nvSpPr>
        <p:spPr>
          <a:xfrm>
            <a:off x="998835" y="1546648"/>
            <a:ext cx="3408405" cy="327454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err="1"/>
              <a:t>Development</a:t>
            </a:r>
            <a:endParaRPr lang="fr-FR" sz="400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BC66D41-2824-5251-9360-B8C227F88DA6}"/>
              </a:ext>
            </a:extLst>
          </p:cNvPr>
          <p:cNvSpPr/>
          <p:nvPr/>
        </p:nvSpPr>
        <p:spPr>
          <a:xfrm>
            <a:off x="7993705" y="1546648"/>
            <a:ext cx="3408405" cy="327454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/>
              <a:t>Operations</a:t>
            </a: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35FC96DA-A44D-A097-BC28-168510AB2271}"/>
              </a:ext>
            </a:extLst>
          </p:cNvPr>
          <p:cNvSpPr/>
          <p:nvPr/>
        </p:nvSpPr>
        <p:spPr>
          <a:xfrm>
            <a:off x="4481381" y="2273638"/>
            <a:ext cx="3438182" cy="5519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>
                <a:solidFill>
                  <a:schemeClr val="bg1"/>
                </a:solidFill>
              </a:rPr>
              <a:t>Releases</a:t>
            </a: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0A8403C-5777-28EF-83D9-19F6822459A6}"/>
              </a:ext>
            </a:extLst>
          </p:cNvPr>
          <p:cNvSpPr/>
          <p:nvPr/>
        </p:nvSpPr>
        <p:spPr>
          <a:xfrm flipH="1">
            <a:off x="4481380" y="3519380"/>
            <a:ext cx="3438183" cy="55193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>
                <a:solidFill>
                  <a:schemeClr val="bg1"/>
                </a:solidFill>
              </a:rPr>
              <a:t>Bugs tickets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1BBF7E-EA70-9FE6-C90F-A1284432D1C6}"/>
              </a:ext>
            </a:extLst>
          </p:cNvPr>
          <p:cNvSpPr txBox="1"/>
          <p:nvPr/>
        </p:nvSpPr>
        <p:spPr>
          <a:xfrm>
            <a:off x="666706" y="5315394"/>
            <a:ext cx="4399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err="1"/>
              <a:t>Produce</a:t>
            </a:r>
            <a:r>
              <a:rPr lang="fr-FR"/>
              <a:t> code and software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Master backend / frontend </a:t>
            </a:r>
            <a:r>
              <a:rPr lang="fr-FR" err="1"/>
              <a:t>languages</a:t>
            </a: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Work on </a:t>
            </a:r>
            <a:r>
              <a:rPr lang="fr-FR" err="1"/>
              <a:t>regular</a:t>
            </a:r>
            <a:r>
              <a:rPr lang="fr-FR"/>
              <a:t> </a:t>
            </a:r>
            <a:r>
              <a:rPr lang="fr-FR" err="1"/>
              <a:t>hours</a:t>
            </a: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Know </a:t>
            </a:r>
            <a:r>
              <a:rPr lang="fr-FR" err="1"/>
              <a:t>their</a:t>
            </a:r>
            <a:r>
              <a:rPr lang="fr-FR"/>
              <a:t> repositories in </a:t>
            </a:r>
            <a:r>
              <a:rPr lang="fr-FR" err="1"/>
              <a:t>depth</a:t>
            </a:r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38C984-96B3-4E9A-E4F7-3FC99AFA0885}"/>
              </a:ext>
            </a:extLst>
          </p:cNvPr>
          <p:cNvSpPr txBox="1"/>
          <p:nvPr/>
        </p:nvSpPr>
        <p:spPr>
          <a:xfrm>
            <a:off x="7681225" y="5218832"/>
            <a:ext cx="4399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Run and monitor the </a:t>
            </a:r>
            <a:r>
              <a:rPr lang="fr-FR" err="1"/>
              <a:t>company</a:t>
            </a:r>
            <a:r>
              <a:rPr lang="fr-FR"/>
              <a:t>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Scripting for automation &amp; </a:t>
            </a:r>
            <a:r>
              <a:rPr lang="fr-FR" err="1"/>
              <a:t>tooling</a:t>
            </a: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24/7 incident </a:t>
            </a:r>
            <a:r>
              <a:rPr lang="fr-FR" err="1"/>
              <a:t>response</a:t>
            </a:r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/>
              <a:t>Know all the </a:t>
            </a:r>
            <a:r>
              <a:rPr lang="fr-FR" err="1"/>
              <a:t>company</a:t>
            </a:r>
            <a:r>
              <a:rPr lang="fr-FR"/>
              <a:t> </a:t>
            </a:r>
            <a:r>
              <a:rPr lang="fr-FR" err="1"/>
              <a:t>functionalities</a:t>
            </a:r>
            <a:endParaRPr lang="fr-FR"/>
          </a:p>
        </p:txBody>
      </p:sp>
      <p:pic>
        <p:nvPicPr>
          <p:cNvPr id="14" name="Image 13" descr="Une image contenant Panneau de signalisation, symbole, signe&#10;&#10;Description générée automatiquement">
            <a:extLst>
              <a:ext uri="{FF2B5EF4-FFF2-40B4-BE49-F238E27FC236}">
                <a16:creationId xmlns:a16="http://schemas.microsoft.com/office/drawing/2014/main" id="{DCF32F33-6E31-C54F-B79D-7B935267A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10" y="1794105"/>
            <a:ext cx="959065" cy="95906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1685C597-34CB-D272-A180-F815DAC2AE2C}"/>
              </a:ext>
            </a:extLst>
          </p:cNvPr>
          <p:cNvSpPr txBox="1"/>
          <p:nvPr/>
        </p:nvSpPr>
        <p:spPr>
          <a:xfrm>
            <a:off x="2184052" y="2030789"/>
            <a:ext cx="222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/>
              <a:t>Source code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532C8E65-911C-75A2-6761-FDED691BB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589" y="1828791"/>
            <a:ext cx="889694" cy="889694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39F9D3FD-D936-8011-4FE9-236D6D545DC8}"/>
              </a:ext>
            </a:extLst>
          </p:cNvPr>
          <p:cNvSpPr txBox="1"/>
          <p:nvPr/>
        </p:nvSpPr>
        <p:spPr>
          <a:xfrm>
            <a:off x="9404516" y="1981360"/>
            <a:ext cx="2223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/>
              <a:t>Data center</a:t>
            </a:r>
          </a:p>
        </p:txBody>
      </p:sp>
    </p:spTree>
    <p:extLst>
      <p:ext uri="{BB962C8B-B14F-4D97-AF65-F5344CB8AC3E}">
        <p14:creationId xmlns:p14="http://schemas.microsoft.com/office/powerpoint/2010/main" val="1554076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Critique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508215" y="917422"/>
            <a:ext cx="9903299" cy="55846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Highly specialized teams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Hard communication</a:t>
            </a:r>
            <a:endParaRPr lang="en-US" sz="2000" dirty="0"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Different team culture (not the same daily job)</a:t>
            </a:r>
            <a:endParaRPr lang="en-US" sz="2000" dirty="0"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Different location (they never see each other)</a:t>
            </a:r>
            <a:endParaRPr lang="en-US" sz="2000" dirty="0">
              <a:cs typeface="Calibri"/>
            </a:endParaRPr>
          </a:p>
          <a:p>
            <a:pPr lvl="1">
              <a:lnSpc>
                <a:spcPct val="150000"/>
              </a:lnSpc>
            </a:pPr>
            <a:endParaRPr lang="en-US" sz="2000"/>
          </a:p>
          <a:p>
            <a:pPr>
              <a:lnSpc>
                <a:spcPct val="150000"/>
              </a:lnSpc>
            </a:pPr>
            <a:r>
              <a:rPr lang="en-US" sz="2000" dirty="0"/>
              <a:t>Not empowering the teams</a:t>
            </a:r>
            <a:endParaRPr lang="en-US" sz="2000" dirty="0"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teams are not accountable for the whole solution success (Not my fault!)</a:t>
            </a:r>
            <a:endParaRPr lang="en-US" sz="2000" dirty="0">
              <a:cs typeface="Calibri"/>
            </a:endParaRPr>
          </a:p>
          <a:p>
            <a:pPr lvl="1">
              <a:lnSpc>
                <a:spcPct val="150000"/>
              </a:lnSpc>
            </a:pPr>
            <a:endParaRPr lang="en-US" sz="2000"/>
          </a:p>
          <a:p>
            <a:pPr>
              <a:lnSpc>
                <a:spcPct val="150000"/>
              </a:lnSpc>
            </a:pPr>
            <a:r>
              <a:rPr lang="en-US" sz="2000" dirty="0"/>
              <a:t>Lack of transparency from each side</a:t>
            </a:r>
            <a:endParaRPr lang="en-US" sz="2000" dirty="0"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Ops don’t </a:t>
            </a:r>
            <a:r>
              <a:rPr lang="en-US" sz="2000" i="1" dirty="0"/>
              <a:t>exactly</a:t>
            </a:r>
            <a:r>
              <a:rPr lang="en-US" sz="2000" dirty="0"/>
              <a:t> know what code they operate, Devs don’t </a:t>
            </a:r>
            <a:r>
              <a:rPr lang="en-US" sz="2000" i="1" dirty="0"/>
              <a:t>exactly</a:t>
            </a:r>
            <a:r>
              <a:rPr lang="en-US" sz="2000" dirty="0"/>
              <a:t> know how the software behaves in prod</a:t>
            </a:r>
            <a:endParaRPr lang="en-US" sz="2000" dirty="0"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Leads to a weak solution quality</a:t>
            </a:r>
          </a:p>
        </p:txBody>
      </p:sp>
      <p:pic>
        <p:nvPicPr>
          <p:cNvPr id="20" name="Image 19" descr="Une image contenant texte, capture d’écran, Police, diagramme&#10;&#10;Description générée automatiquement">
            <a:extLst>
              <a:ext uri="{FF2B5EF4-FFF2-40B4-BE49-F238E27FC236}">
                <a16:creationId xmlns:a16="http://schemas.microsoft.com/office/drawing/2014/main" id="{9A29B551-7885-5305-AD60-A326E0D0C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562" y="673378"/>
            <a:ext cx="5048349" cy="156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8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/>
              <a:t>DEVOPS teams organisation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38C984-96B3-4E9A-E4F7-3FC99AFA0885}"/>
              </a:ext>
            </a:extLst>
          </p:cNvPr>
          <p:cNvSpPr txBox="1"/>
          <p:nvPr/>
        </p:nvSpPr>
        <p:spPr>
          <a:xfrm>
            <a:off x="359615" y="1973124"/>
            <a:ext cx="5647596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/>
              <a:t>One </a:t>
            </a:r>
            <a:r>
              <a:rPr lang="en-GB" sz="2000" err="1"/>
              <a:t>devops</a:t>
            </a:r>
            <a:r>
              <a:rPr lang="fr-FR" sz="2000"/>
              <a:t> team per </a:t>
            </a:r>
            <a:r>
              <a:rPr lang="fr-FR" sz="2000" err="1"/>
              <a:t>functionality</a:t>
            </a:r>
            <a:r>
              <a:rPr lang="fr-FR" sz="2000"/>
              <a:t> </a:t>
            </a:r>
            <a:r>
              <a:rPr lang="fr-FR" sz="2000" b="1" err="1"/>
              <a:t>domain</a:t>
            </a:r>
            <a:r>
              <a:rPr lang="fr-FR" sz="200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/>
              <a:t>Ex: </a:t>
            </a:r>
            <a:r>
              <a:rPr lang="fr-FR" sz="2000" err="1"/>
              <a:t>payment</a:t>
            </a:r>
            <a:r>
              <a:rPr lang="fr-FR" sz="2000"/>
              <a:t>, </a:t>
            </a:r>
            <a:r>
              <a:rPr lang="fr-FR" sz="2000" err="1"/>
              <a:t>catalog</a:t>
            </a:r>
            <a:r>
              <a:rPr lang="fr-FR" sz="2000"/>
              <a:t>, …</a:t>
            </a:r>
            <a:br>
              <a:rPr lang="fr-FR" sz="2000"/>
            </a:br>
            <a:endParaRPr lang="fr-FR"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/>
              <a:t>Ops </a:t>
            </a:r>
            <a:r>
              <a:rPr lang="fr-FR" sz="2000" err="1"/>
              <a:t>outcome</a:t>
            </a:r>
            <a:r>
              <a:rPr lang="fr-FR" sz="2000"/>
              <a:t> </a:t>
            </a:r>
            <a:r>
              <a:rPr lang="fr-FR" sz="2000" err="1"/>
              <a:t>is</a:t>
            </a:r>
            <a:r>
              <a:rPr lang="fr-FR" sz="2000"/>
              <a:t> relevant to </a:t>
            </a:r>
            <a:r>
              <a:rPr lang="fr-FR" sz="2000" err="1"/>
              <a:t>improve</a:t>
            </a:r>
            <a:r>
              <a:rPr lang="fr-FR" sz="2000"/>
              <a:t> the app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/>
              <a:t>Ex: performance </a:t>
            </a:r>
            <a:r>
              <a:rPr lang="fr-FR" sz="2000" err="1"/>
              <a:t>metrics</a:t>
            </a:r>
            <a:r>
              <a:rPr lang="fr-FR" sz="2000"/>
              <a:t> and logs are accessible by the </a:t>
            </a:r>
            <a:r>
              <a:rPr lang="fr-FR" sz="2000" err="1"/>
              <a:t>developers</a:t>
            </a:r>
            <a:br>
              <a:rPr lang="fr-FR" sz="2000"/>
            </a:br>
            <a:endParaRPr lang="fr-FR"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/>
              <a:t>Dev </a:t>
            </a:r>
            <a:r>
              <a:rPr lang="fr-FR" sz="2000" err="1"/>
              <a:t>outcome</a:t>
            </a:r>
            <a:r>
              <a:rPr lang="fr-FR" sz="2000"/>
              <a:t> </a:t>
            </a:r>
            <a:r>
              <a:rPr lang="fr-FR" sz="2000" err="1"/>
              <a:t>with</a:t>
            </a:r>
            <a:r>
              <a:rPr lang="fr-FR" sz="2000"/>
              <a:t> </a:t>
            </a:r>
            <a:r>
              <a:rPr lang="fr-FR" sz="2000" err="1"/>
              <a:t>ease</a:t>
            </a:r>
            <a:r>
              <a:rPr lang="fr-FR" sz="2000"/>
              <a:t> of </a:t>
            </a:r>
            <a:r>
              <a:rPr lang="fr-FR" sz="2000" err="1"/>
              <a:t>operations</a:t>
            </a:r>
            <a:r>
              <a:rPr lang="fr-FR" sz="2000"/>
              <a:t> in </a:t>
            </a:r>
            <a:r>
              <a:rPr lang="fr-FR" sz="2000" err="1"/>
              <a:t>mind</a:t>
            </a:r>
            <a:endParaRPr lang="fr-FR" sz="20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/>
              <a:t>Ex: </a:t>
            </a:r>
            <a:r>
              <a:rPr lang="fr-FR" sz="2000" err="1"/>
              <a:t>security</a:t>
            </a:r>
            <a:r>
              <a:rPr lang="fr-FR" sz="2000"/>
              <a:t> logs </a:t>
            </a:r>
            <a:r>
              <a:rPr lang="fr-FR" sz="2000" err="1"/>
              <a:t>implemented</a:t>
            </a:r>
            <a:endParaRPr lang="fr-FR"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/>
          </a:p>
        </p:txBody>
      </p:sp>
      <p:pic>
        <p:nvPicPr>
          <p:cNvPr id="3" name="Espace réservé du contenu 4" descr="devops infinite logo&#10;">
            <a:extLst>
              <a:ext uri="{FF2B5EF4-FFF2-40B4-BE49-F238E27FC236}">
                <a16:creationId xmlns:a16="http://schemas.microsoft.com/office/drawing/2014/main" id="{855F086E-FF23-87F8-0B76-DEB6171DE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792" y="2063707"/>
            <a:ext cx="6095593" cy="34287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5311046-E730-ED12-CF8A-7238F55775CD}"/>
              </a:ext>
            </a:extLst>
          </p:cNvPr>
          <p:cNvSpPr txBox="1"/>
          <p:nvPr/>
        </p:nvSpPr>
        <p:spPr>
          <a:xfrm>
            <a:off x="1623969" y="1029825"/>
            <a:ext cx="3763423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i="1"/>
              <a:t>You run </a:t>
            </a:r>
            <a:r>
              <a:rPr lang="fr-FR" sz="2400" b="1" i="1" err="1"/>
              <a:t>what</a:t>
            </a:r>
            <a:r>
              <a:rPr lang="fr-FR" sz="2400" b="1" i="1"/>
              <a:t> </a:t>
            </a:r>
            <a:r>
              <a:rPr lang="fr-FR" sz="2400" b="1" i="1" err="1"/>
              <a:t>you</a:t>
            </a:r>
            <a:r>
              <a:rPr lang="fr-FR" sz="2400" b="1" i="1"/>
              <a:t> </a:t>
            </a:r>
            <a:r>
              <a:rPr lang="fr-FR" sz="2400" b="1" i="1" err="1"/>
              <a:t>build</a:t>
            </a:r>
            <a:endParaRPr lang="fr-FR" sz="2400" b="1" i="1"/>
          </a:p>
        </p:txBody>
      </p:sp>
    </p:spTree>
    <p:extLst>
      <p:ext uri="{BB962C8B-B14F-4D97-AF65-F5344CB8AC3E}">
        <p14:creationId xmlns:p14="http://schemas.microsoft.com/office/powerpoint/2010/main" val="31903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/>
              <a:t>Critique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508215" y="926923"/>
            <a:ext cx="9903299" cy="60462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/>
              <a:t>Larger scope / shallower knowledge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Coding, testing, CI/CD, docker, Kubernetes, …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Tend to rely on Open Source software and tools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Encourage automation</a:t>
            </a:r>
          </a:p>
          <a:p>
            <a:pPr>
              <a:lnSpc>
                <a:spcPct val="150000"/>
              </a:lnSpc>
            </a:pPr>
            <a:endParaRPr lang="en-US" sz="2000"/>
          </a:p>
          <a:p>
            <a:pPr>
              <a:lnSpc>
                <a:spcPct val="150000"/>
              </a:lnSpc>
            </a:pPr>
            <a:r>
              <a:rPr lang="en-US" sz="2000"/>
              <a:t>The team must be UP 24/7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At least 1 person at a time</a:t>
            </a:r>
          </a:p>
          <a:p>
            <a:pPr>
              <a:lnSpc>
                <a:spcPct val="150000"/>
              </a:lnSpc>
            </a:pPr>
            <a:endParaRPr lang="en-US" sz="2000"/>
          </a:p>
          <a:p>
            <a:pPr>
              <a:lnSpc>
                <a:spcPct val="150000"/>
              </a:lnSpc>
            </a:pPr>
            <a:r>
              <a:rPr lang="en-US" sz="2000"/>
              <a:t>Enhanced solution quality &amp; security</a:t>
            </a:r>
            <a:endParaRPr lang="en-US" sz="2000"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Short feedback to the dev team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Fast release cycle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The bugfix can come in prod before the customer sees the bug! </a:t>
            </a:r>
            <a:r>
              <a:rPr lang="fr-FR" sz="2000"/>
              <a:t>🪲</a:t>
            </a:r>
            <a:endParaRPr lang="en-US" sz="2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/>
          </a:p>
        </p:txBody>
      </p:sp>
      <p:pic>
        <p:nvPicPr>
          <p:cNvPr id="4" name="Espace réservé du contenu 4" descr="devops infinite logo&#10;">
            <a:extLst>
              <a:ext uri="{FF2B5EF4-FFF2-40B4-BE49-F238E27FC236}">
                <a16:creationId xmlns:a16="http://schemas.microsoft.com/office/drawing/2014/main" id="{C76545A6-7767-C8CC-4CA3-607E4E2E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26" y="27459"/>
            <a:ext cx="5080202" cy="2857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8468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 err="1"/>
              <a:t>Everything</a:t>
            </a:r>
            <a:r>
              <a:rPr lang="fr-FR" dirty="0"/>
              <a:t> as code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620FEA-FA3C-B3F6-C2FC-F9D51C3D46CB}"/>
              </a:ext>
            </a:extLst>
          </p:cNvPr>
          <p:cNvSpPr txBox="1"/>
          <p:nvPr/>
        </p:nvSpPr>
        <p:spPr>
          <a:xfrm>
            <a:off x="508215" y="926923"/>
            <a:ext cx="9903299" cy="55846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cs typeface="Calibri"/>
              </a:rPr>
              <a:t>GIT is the de-facto tool for organizing the </a:t>
            </a:r>
            <a:r>
              <a:rPr lang="en-US" sz="2000" dirty="0" err="1">
                <a:cs typeface="Calibri"/>
              </a:rPr>
              <a:t>devops</a:t>
            </a:r>
            <a:r>
              <a:rPr lang="en-US" sz="2000" dirty="0">
                <a:cs typeface="Calibri"/>
              </a:rPr>
              <a:t> teams activity: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cs typeface="Calibri"/>
              </a:rPr>
              <a:t>Traceability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cs typeface="Calibri"/>
              </a:rPr>
              <a:t>History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cs typeface="Calibri"/>
              </a:rPr>
              <a:t>Code reviews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cs typeface="Calibri"/>
              </a:rPr>
              <a:t>Possible revert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000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fr-FR" sz="2000" dirty="0" err="1">
                <a:cs typeface="Calibri" panose="020F0502020204030204"/>
              </a:rPr>
              <a:t>Any</a:t>
            </a:r>
            <a:r>
              <a:rPr lang="fr-FR" sz="2000" dirty="0">
                <a:cs typeface="Calibri" panose="020F0502020204030204"/>
              </a:rPr>
              <a:t> </a:t>
            </a:r>
            <a:r>
              <a:rPr lang="fr-FR" sz="2000" dirty="0" err="1">
                <a:cs typeface="Calibri" panose="020F0502020204030204"/>
              </a:rPr>
              <a:t>text</a:t>
            </a:r>
            <a:r>
              <a:rPr lang="fr-FR" sz="2000" dirty="0">
                <a:cs typeface="Calibri" panose="020F0502020204030204"/>
              </a:rPr>
              <a:t> file </a:t>
            </a:r>
            <a:r>
              <a:rPr lang="fr-FR" sz="2000" dirty="0" err="1">
                <a:cs typeface="Calibri" panose="020F0502020204030204"/>
              </a:rPr>
              <a:t>could</a:t>
            </a:r>
            <a:r>
              <a:rPr lang="fr-FR" sz="2000" dirty="0">
                <a:cs typeface="Calibri" panose="020F0502020204030204"/>
              </a:rPr>
              <a:t> </a:t>
            </a:r>
            <a:r>
              <a:rPr lang="fr-FR" sz="2000" dirty="0" err="1">
                <a:cs typeface="Calibri" panose="020F0502020204030204"/>
              </a:rPr>
              <a:t>be</a:t>
            </a:r>
            <a:r>
              <a:rPr lang="fr-FR" sz="2000" dirty="0">
                <a:cs typeface="Calibri" panose="020F0502020204030204"/>
              </a:rPr>
              <a:t> </a:t>
            </a:r>
            <a:r>
              <a:rPr lang="fr-FR" sz="2000" dirty="0" err="1">
                <a:cs typeface="Calibri" panose="020F0502020204030204"/>
              </a:rPr>
              <a:t>managed</a:t>
            </a:r>
            <a:r>
              <a:rPr lang="fr-FR" sz="2000" dirty="0">
                <a:cs typeface="Calibri" panose="020F0502020204030204"/>
              </a:rPr>
              <a:t> </a:t>
            </a:r>
            <a:r>
              <a:rPr lang="fr-FR" sz="2000" dirty="0" err="1">
                <a:cs typeface="Calibri" panose="020F0502020204030204"/>
              </a:rPr>
              <a:t>with</a:t>
            </a:r>
            <a:r>
              <a:rPr lang="fr-FR" sz="2000" dirty="0">
                <a:cs typeface="Calibri" panose="020F0502020204030204"/>
              </a:rPr>
              <a:t> GIT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fr-FR" sz="2000" dirty="0">
                <a:cs typeface="Calibri" panose="020F0502020204030204"/>
              </a:rPr>
              <a:t>Source code &amp; </a:t>
            </a:r>
            <a:r>
              <a:rPr lang="fr-FR" sz="2000" dirty="0" err="1">
                <a:cs typeface="Calibri" panose="020F0502020204030204"/>
              </a:rPr>
              <a:t>dependencies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fr-FR" sz="2000" dirty="0">
                <a:cs typeface="Calibri" panose="020F0502020204030204"/>
              </a:rPr>
              <a:t>Documentation (README.md, </a:t>
            </a:r>
            <a:r>
              <a:rPr lang="fr-FR" sz="2000" dirty="0" err="1">
                <a:cs typeface="Calibri" panose="020F0502020204030204"/>
              </a:rPr>
              <a:t>markdown</a:t>
            </a:r>
            <a:r>
              <a:rPr lang="fr-FR" sz="2000" dirty="0">
                <a:cs typeface="Calibri" panose="020F0502020204030204"/>
              </a:rPr>
              <a:t> format)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fr-FR" sz="2000" dirty="0">
                <a:cs typeface="Calibri" panose="020F0502020204030204"/>
              </a:rPr>
              <a:t>API </a:t>
            </a:r>
            <a:r>
              <a:rPr lang="fr-FR" sz="2000" dirty="0" err="1">
                <a:cs typeface="Calibri" panose="020F0502020204030204"/>
              </a:rPr>
              <a:t>specification</a:t>
            </a:r>
            <a:r>
              <a:rPr lang="fr-FR" sz="2000" dirty="0">
                <a:cs typeface="Calibri" panose="020F0502020204030204"/>
              </a:rPr>
              <a:t> (YAML or JSON format)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fr-FR" sz="2000" dirty="0">
                <a:cs typeface="Calibri" panose="020F0502020204030204"/>
              </a:rPr>
              <a:t>Cloud </a:t>
            </a:r>
            <a:r>
              <a:rPr lang="fr-FR" sz="2000" dirty="0" err="1">
                <a:cs typeface="Calibri" panose="020F0502020204030204"/>
              </a:rPr>
              <a:t>resources</a:t>
            </a:r>
            <a:r>
              <a:rPr lang="fr-FR" sz="2000" dirty="0">
                <a:cs typeface="Calibri" panose="020F0502020204030204"/>
              </a:rPr>
              <a:t> description (Infrastructure as code) (</a:t>
            </a:r>
            <a:r>
              <a:rPr lang="fr-FR" sz="2000" dirty="0" err="1">
                <a:cs typeface="Calibri" panose="020F0502020204030204"/>
              </a:rPr>
              <a:t>Using</a:t>
            </a:r>
            <a:r>
              <a:rPr lang="fr-FR" sz="2000" dirty="0">
                <a:cs typeface="Calibri" panose="020F0502020204030204"/>
              </a:rPr>
              <a:t> </a:t>
            </a:r>
            <a:r>
              <a:rPr lang="fr-FR" sz="2000" dirty="0" err="1">
                <a:cs typeface="Calibri" panose="020F0502020204030204"/>
              </a:rPr>
              <a:t>Terraform</a:t>
            </a:r>
            <a:r>
              <a:rPr lang="fr-FR" sz="2000" dirty="0">
                <a:cs typeface="Calibri" panose="020F0502020204030204"/>
              </a:rPr>
              <a:t> </a:t>
            </a:r>
            <a:r>
              <a:rPr lang="fr-FR" sz="2000" dirty="0" err="1">
                <a:cs typeface="Calibri" panose="020F0502020204030204"/>
              </a:rPr>
              <a:t>tool</a:t>
            </a:r>
            <a:r>
              <a:rPr lang="fr-FR" sz="2000" dirty="0">
                <a:cs typeface="Calibri" panose="020F0502020204030204"/>
              </a:rPr>
              <a:t>)</a:t>
            </a:r>
          </a:p>
        </p:txBody>
      </p:sp>
      <p:pic>
        <p:nvPicPr>
          <p:cNvPr id="4" name="Espace réservé du contenu 4" descr="devops infinite logo&#10;">
            <a:extLst>
              <a:ext uri="{FF2B5EF4-FFF2-40B4-BE49-F238E27FC236}">
                <a16:creationId xmlns:a16="http://schemas.microsoft.com/office/drawing/2014/main" id="{C76545A6-7767-C8CC-4CA3-607E4E2E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26" y="27459"/>
            <a:ext cx="5080202" cy="2857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 13" descr="Une image contenant Panneau de signalisation, symbole, signe&#10;&#10;Description générée automatiquement">
            <a:extLst>
              <a:ext uri="{FF2B5EF4-FFF2-40B4-BE49-F238E27FC236}">
                <a16:creationId xmlns:a16="http://schemas.microsoft.com/office/drawing/2014/main" id="{B062D537-4C69-6E39-1142-D3403EFDB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785" y="2539257"/>
            <a:ext cx="1785459" cy="1785460"/>
          </a:xfrm>
          <a:prstGeom prst="rect">
            <a:avLst/>
          </a:prstGeom>
        </p:spPr>
      </p:pic>
      <p:sp>
        <p:nvSpPr>
          <p:cNvPr id="8" name="ZoneTexte 11">
            <a:extLst>
              <a:ext uri="{FF2B5EF4-FFF2-40B4-BE49-F238E27FC236}">
                <a16:creationId xmlns:a16="http://schemas.microsoft.com/office/drawing/2014/main" id="{2896A83E-C8E6-846E-55FB-564BB0253107}"/>
              </a:ext>
            </a:extLst>
          </p:cNvPr>
          <p:cNvSpPr txBox="1"/>
          <p:nvPr/>
        </p:nvSpPr>
        <p:spPr>
          <a:xfrm>
            <a:off x="8766472" y="4361750"/>
            <a:ext cx="2584862" cy="9679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i="1" dirty="0"/>
              <a:t>Git, at the center of </a:t>
            </a:r>
            <a:r>
              <a:rPr lang="fr-FR" sz="2000" i="1" err="1"/>
              <a:t>Devops</a:t>
            </a:r>
            <a:r>
              <a:rPr lang="fr-FR" sz="2000" i="1" dirty="0"/>
              <a:t> process</a:t>
            </a:r>
            <a:endParaRPr lang="en-US" i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7403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err="1"/>
              <a:t>devops</a:t>
            </a:r>
            <a:r>
              <a:rPr lang="fr-FR"/>
              <a:t> </a:t>
            </a:r>
            <a:r>
              <a:rPr lang="fr-FR" err="1"/>
              <a:t>typical</a:t>
            </a:r>
            <a:r>
              <a:rPr lang="fr-FR"/>
              <a:t> </a:t>
            </a:r>
            <a:r>
              <a:rPr lang="fr-FR" err="1"/>
              <a:t>products</a:t>
            </a:r>
            <a:endParaRPr lang="fr-FR"/>
          </a:p>
        </p:txBody>
      </p:sp>
      <p:pic>
        <p:nvPicPr>
          <p:cNvPr id="5" name="Image 4" descr="Une image contenant capture d’écran, Caractère coloré, carré">
            <a:extLst>
              <a:ext uri="{FF2B5EF4-FFF2-40B4-BE49-F238E27FC236}">
                <a16:creationId xmlns:a16="http://schemas.microsoft.com/office/drawing/2014/main" id="{3E2F5131-24A0-604B-0D13-F98590C3F2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471" b="30590"/>
          <a:stretch/>
        </p:blipFill>
        <p:spPr>
          <a:xfrm>
            <a:off x="510179" y="1804398"/>
            <a:ext cx="7202820" cy="15371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Image 6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3AEF901F-8D06-D46E-3D89-D6BCC1975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34" y="4867306"/>
            <a:ext cx="5827560" cy="12043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Image 8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7F8E4059-1026-3A37-6555-E8B3B6B35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97" y="3341536"/>
            <a:ext cx="3378648" cy="20215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3908B09-E598-D7B8-CD3B-61A6FBEF591A}"/>
              </a:ext>
            </a:extLst>
          </p:cNvPr>
          <p:cNvSpPr txBox="1"/>
          <p:nvPr/>
        </p:nvSpPr>
        <p:spPr>
          <a:xfrm>
            <a:off x="845966" y="3760736"/>
            <a:ext cx="3454185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/>
              <a:t>Media streaming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BB09E6E-C20A-FC71-5E15-FC824D16E47D}"/>
              </a:ext>
            </a:extLst>
          </p:cNvPr>
          <p:cNvSpPr txBox="1"/>
          <p:nvPr/>
        </p:nvSpPr>
        <p:spPr>
          <a:xfrm>
            <a:off x="2384496" y="6244444"/>
            <a:ext cx="3454185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/>
              <a:t>E-commerce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8989069" y="5818522"/>
            <a:ext cx="3454185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/>
              <a:t>Cloud provider</a:t>
            </a:r>
          </a:p>
        </p:txBody>
      </p:sp>
    </p:spTree>
    <p:extLst>
      <p:ext uri="{BB962C8B-B14F-4D97-AF65-F5344CB8AC3E}">
        <p14:creationId xmlns:p14="http://schemas.microsoft.com/office/powerpoint/2010/main" val="34062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err="1"/>
              <a:t>devops</a:t>
            </a:r>
            <a:r>
              <a:rPr lang="fr-FR"/>
              <a:t> tech stack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3" y="1633261"/>
            <a:ext cx="11189325" cy="51229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Modern (2024) </a:t>
            </a:r>
            <a:r>
              <a:rPr lang="fr-FR" sz="2000" dirty="0" err="1"/>
              <a:t>programming</a:t>
            </a:r>
            <a:r>
              <a:rPr lang="fr-FR" sz="2000" dirty="0"/>
              <a:t> </a:t>
            </a:r>
            <a:r>
              <a:rPr lang="fr-FR" sz="2000" dirty="0" err="1"/>
              <a:t>language</a:t>
            </a:r>
            <a:r>
              <a:rPr lang="fr-FR" sz="2000" dirty="0"/>
              <a:t> (do more in </a:t>
            </a:r>
            <a:r>
              <a:rPr lang="fr-FR" sz="2000" dirty="0" err="1"/>
              <a:t>less</a:t>
            </a:r>
            <a:r>
              <a:rPr lang="fr-FR" sz="2000" dirty="0"/>
              <a:t> time)  ➡️  </a:t>
            </a:r>
            <a:r>
              <a:rPr lang="fr-FR" sz="2000" dirty="0" err="1"/>
              <a:t>Golang</a:t>
            </a:r>
            <a:r>
              <a:rPr lang="fr-FR" sz="2000" dirty="0"/>
              <a:t> &amp; Javascript</a:t>
            </a:r>
          </a:p>
          <a:p>
            <a:pPr>
              <a:lnSpc>
                <a:spcPct val="150000"/>
              </a:lnSpc>
            </a:pPr>
            <a:endParaRPr lang="fr-FR" sz="2000"/>
          </a:p>
          <a:p>
            <a:pPr>
              <a:lnSpc>
                <a:spcPct val="150000"/>
              </a:lnSpc>
            </a:pPr>
            <a:r>
              <a:rPr lang="fr-FR" sz="2000" dirty="0"/>
              <a:t>Web </a:t>
            </a:r>
            <a:r>
              <a:rPr lang="fr-FR" sz="2000" dirty="0" err="1"/>
              <a:t>Frameworks</a:t>
            </a:r>
            <a:r>
              <a:rPr lang="fr-FR" sz="2000" dirty="0"/>
              <a:t>  ➡️  </a:t>
            </a:r>
            <a:r>
              <a:rPr lang="fr-FR" sz="2000" dirty="0" err="1"/>
              <a:t>React</a:t>
            </a:r>
            <a:r>
              <a:rPr lang="fr-FR" sz="2000" dirty="0"/>
              <a:t>, </a:t>
            </a:r>
            <a:r>
              <a:rPr lang="fr-FR" sz="2000" dirty="0" err="1"/>
              <a:t>VueJS</a:t>
            </a:r>
            <a:r>
              <a:rPr lang="fr-FR" sz="2000" dirty="0"/>
              <a:t>, </a:t>
            </a:r>
            <a:r>
              <a:rPr lang="fr-FR" sz="2000" dirty="0" err="1"/>
              <a:t>SolidJS</a:t>
            </a:r>
            <a:r>
              <a:rPr lang="fr-FR" sz="2000" dirty="0"/>
              <a:t>, HTMX</a:t>
            </a:r>
            <a:endParaRPr lang="fr-FR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/>
          </a:p>
          <a:p>
            <a:pPr>
              <a:lnSpc>
                <a:spcPct val="150000"/>
              </a:lnSpc>
            </a:pPr>
            <a:r>
              <a:rPr lang="fr-FR" sz="2000" dirty="0"/>
              <a:t>Packaging the app  ➡️  Docker</a:t>
            </a:r>
            <a:endParaRPr lang="fr-FR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/>
          </a:p>
          <a:p>
            <a:pPr>
              <a:lnSpc>
                <a:spcPct val="150000"/>
              </a:lnSpc>
            </a:pPr>
            <a:r>
              <a:rPr lang="fr-FR" sz="2000" dirty="0" err="1"/>
              <a:t>Managing</a:t>
            </a:r>
            <a:r>
              <a:rPr lang="fr-FR" sz="2000" dirty="0"/>
              <a:t> the app  ➡️  </a:t>
            </a:r>
            <a:r>
              <a:rPr lang="fr-FR" sz="2000" dirty="0" err="1"/>
              <a:t>Kubernetes</a:t>
            </a:r>
            <a:endParaRPr lang="fr-FR" sz="2000" dirty="0"/>
          </a:p>
          <a:p>
            <a:pPr>
              <a:lnSpc>
                <a:spcPct val="150000"/>
              </a:lnSpc>
            </a:pPr>
            <a:endParaRPr lang="fr-FR" sz="2000"/>
          </a:p>
          <a:p>
            <a:pPr>
              <a:lnSpc>
                <a:spcPct val="150000"/>
              </a:lnSpc>
            </a:pPr>
            <a:r>
              <a:rPr lang="fr-FR" sz="2000" dirty="0"/>
              <a:t>Automation for CI/CD ➡️  GitHub Actions</a:t>
            </a:r>
            <a:endParaRPr lang="fr-FR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/>
          </a:p>
          <a:p>
            <a:pPr>
              <a:lnSpc>
                <a:spcPct val="150000"/>
              </a:lnSpc>
            </a:pPr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145570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err="1"/>
              <a:t>devops</a:t>
            </a:r>
            <a:r>
              <a:rPr lang="fr-FR"/>
              <a:t> tech stack</a:t>
            </a:r>
          </a:p>
        </p:txBody>
      </p:sp>
      <p:pic>
        <p:nvPicPr>
          <p:cNvPr id="5" name="Picture 4" descr="A blue hexagon with a white wheel on it&#10;&#10;Description automatically generated">
            <a:extLst>
              <a:ext uri="{FF2B5EF4-FFF2-40B4-BE49-F238E27FC236}">
                <a16:creationId xmlns:a16="http://schemas.microsoft.com/office/drawing/2014/main" id="{6E7B4CB7-1ACC-3B8D-A2AC-67121D2D1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589" y="-63722"/>
            <a:ext cx="2880575" cy="2880575"/>
          </a:xfrm>
          <a:prstGeom prst="rect">
            <a:avLst/>
          </a:prstGeom>
          <a:ln>
            <a:noFill/>
          </a:ln>
          <a:effectLst>
            <a:outerShdw blurRad="114300" algn="tl" rotWithShape="0">
              <a:schemeClr val="tx1">
                <a:lumMod val="95000"/>
                <a:alpha val="72000"/>
              </a:schemeClr>
            </a:outerShdw>
          </a:effectLst>
        </p:spPr>
      </p:pic>
      <p:pic>
        <p:nvPicPr>
          <p:cNvPr id="6" name="Picture 5" descr="A logo with a circle and a circle in the middle&#10;&#10;Description automatically generated">
            <a:extLst>
              <a:ext uri="{FF2B5EF4-FFF2-40B4-BE49-F238E27FC236}">
                <a16:creationId xmlns:a16="http://schemas.microsoft.com/office/drawing/2014/main" id="{AFD1BC7B-0643-7730-87DF-0B267565D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711" y="1226139"/>
            <a:ext cx="1450908" cy="1948649"/>
          </a:xfrm>
          <a:prstGeom prst="rect">
            <a:avLst/>
          </a:prstGeom>
          <a:ln>
            <a:noFill/>
          </a:ln>
          <a:effectLst>
            <a:outerShdw blurRad="165100" algn="tl" rotWithShape="0">
              <a:schemeClr val="bg1">
                <a:alpha val="96000"/>
              </a:schemeClr>
            </a:outerShdw>
          </a:effectLst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899778FC-AAC1-FD58-AAC2-EC50C861657E}"/>
              </a:ext>
            </a:extLst>
          </p:cNvPr>
          <p:cNvGrpSpPr/>
          <p:nvPr/>
        </p:nvGrpSpPr>
        <p:grpSpPr>
          <a:xfrm>
            <a:off x="156846" y="1517706"/>
            <a:ext cx="4635567" cy="1657082"/>
            <a:chOff x="664565" y="1497706"/>
            <a:chExt cx="4635567" cy="1657082"/>
          </a:xfrm>
        </p:grpSpPr>
        <p:pic>
          <p:nvPicPr>
            <p:cNvPr id="3" name="Picture 2" descr="A blue letter and fish logo&#10;&#10;Description automatically generated">
              <a:extLst>
                <a:ext uri="{FF2B5EF4-FFF2-40B4-BE49-F238E27FC236}">
                  <a16:creationId xmlns:a16="http://schemas.microsoft.com/office/drawing/2014/main" id="{06F4C4D2-9F1C-CD6B-4B73-EE49A7D3B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565" y="1714957"/>
              <a:ext cx="3380705" cy="1271186"/>
            </a:xfrm>
            <a:prstGeom prst="rect">
              <a:avLst/>
            </a:prstGeom>
          </p:spPr>
        </p:pic>
        <p:pic>
          <p:nvPicPr>
            <p:cNvPr id="7" name="Picture 6" descr="A cartoon of a blue mouse&#10;&#10;Description automatically generated">
              <a:extLst>
                <a:ext uri="{FF2B5EF4-FFF2-40B4-BE49-F238E27FC236}">
                  <a16:creationId xmlns:a16="http://schemas.microsoft.com/office/drawing/2014/main" id="{ECAA39C2-0BEB-1809-1D54-D866FF0A0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90712" y="1497706"/>
              <a:ext cx="1209420" cy="1657082"/>
            </a:xfrm>
            <a:prstGeom prst="rect">
              <a:avLst/>
            </a:prstGeom>
          </p:spPr>
        </p:pic>
      </p:grpSp>
      <p:pic>
        <p:nvPicPr>
          <p:cNvPr id="8" name="Picture 7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9C7D0E36-32F1-F957-95DA-9343A920E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525" y="4367167"/>
            <a:ext cx="5152408" cy="1325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94000"/>
              </a:srgbClr>
            </a:outerShdw>
          </a:effectLst>
        </p:spPr>
      </p:pic>
      <p:pic>
        <p:nvPicPr>
          <p:cNvPr id="10" name="Picture 9" descr="A black sign with white text&#10;&#10;Description automatically generated">
            <a:extLst>
              <a:ext uri="{FF2B5EF4-FFF2-40B4-BE49-F238E27FC236}">
                <a16:creationId xmlns:a16="http://schemas.microsoft.com/office/drawing/2014/main" id="{1D0F61AE-DBDD-6F2E-B2C2-F6D92DB5AF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204" y="3126414"/>
            <a:ext cx="3785374" cy="10214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93000"/>
              </a:srgbClr>
            </a:outerShdw>
          </a:effectLst>
        </p:spPr>
      </p:pic>
      <p:pic>
        <p:nvPicPr>
          <p:cNvPr id="11" name="Picture 10" descr="A black and grey logo&#10;&#10;Description automatically generated">
            <a:extLst>
              <a:ext uri="{FF2B5EF4-FFF2-40B4-BE49-F238E27FC236}">
                <a16:creationId xmlns:a16="http://schemas.microsoft.com/office/drawing/2014/main" id="{3E316FDB-D3A3-36F9-21BC-7A3D45C8C0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08" y="3429000"/>
            <a:ext cx="3509493" cy="9395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Image 13" descr="Une image contenant Graphique, graphisme, Police, vert&#10;&#10;Description générée automatiquement">
            <a:extLst>
              <a:ext uri="{FF2B5EF4-FFF2-40B4-BE49-F238E27FC236}">
                <a16:creationId xmlns:a16="http://schemas.microsoft.com/office/drawing/2014/main" id="{FB23B469-3A5C-FB39-6A03-2461C6CC9E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120" y="4921506"/>
            <a:ext cx="3658600" cy="763161"/>
          </a:xfrm>
          <a:prstGeom prst="rect">
            <a:avLst/>
          </a:prstGeom>
        </p:spPr>
      </p:pic>
      <p:pic>
        <p:nvPicPr>
          <p:cNvPr id="16" name="Image 15" descr="Une image contenant Police, Graphique, graphisme, logo&#10;&#10;Description générée automatiquement">
            <a:extLst>
              <a:ext uri="{FF2B5EF4-FFF2-40B4-BE49-F238E27FC236}">
                <a16:creationId xmlns:a16="http://schemas.microsoft.com/office/drawing/2014/main" id="{7A31B893-5213-8984-13B7-F1DA243904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7703" y="5817406"/>
            <a:ext cx="3713539" cy="9036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/>
            </a:outerShdw>
          </a:effectLst>
        </p:spPr>
      </p:pic>
      <p:pic>
        <p:nvPicPr>
          <p:cNvPr id="20" name="Image 19" descr="Une image contenant clipart, Graphique, mammifère, texte&#10;&#10;Description générée automatiquement">
            <a:extLst>
              <a:ext uri="{FF2B5EF4-FFF2-40B4-BE49-F238E27FC236}">
                <a16:creationId xmlns:a16="http://schemas.microsoft.com/office/drawing/2014/main" id="{37E546AF-B41D-4472-1647-46B7FAC293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0711" y="3637139"/>
            <a:ext cx="1471132" cy="147113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10E1A72-1BF0-FBAC-7E2C-D3E17A67B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479" y="535302"/>
            <a:ext cx="2823000" cy="982404"/>
          </a:xfrm>
          <a:prstGeom prst="rect">
            <a:avLst/>
          </a:prstGeom>
          <a:ln>
            <a:noFill/>
          </a:ln>
          <a:effectLst>
            <a:outerShdw blurRad="88900" algn="tl" rotWithShape="0">
              <a:schemeClr val="tx1">
                <a:alpha val="87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HashiCorp Brand">
            <a:extLst>
              <a:ext uri="{FF2B5EF4-FFF2-40B4-BE49-F238E27FC236}">
                <a16:creationId xmlns:a16="http://schemas.microsoft.com/office/drawing/2014/main" id="{658CB9B6-DEB4-E9E0-5341-E2CDB77311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74345" y="2669879"/>
            <a:ext cx="1819054" cy="1934683"/>
          </a:xfrm>
          <a:prstGeom prst="rect">
            <a:avLst/>
          </a:prstGeom>
          <a:effectLst>
            <a:outerShdw blurRad="50800" dir="5400000" algn="ctr" rotWithShape="0">
              <a:schemeClr val="tx1">
                <a:alpha val="91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0140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/>
              <a:t>Our </a:t>
            </a:r>
            <a:r>
              <a:rPr lang="fr-FR" err="1"/>
              <a:t>journey</a:t>
            </a:r>
            <a:r>
              <a:rPr lang="fr-FR"/>
              <a:t> </a:t>
            </a:r>
            <a:r>
              <a:rPr lang="fr-FR" err="1"/>
              <a:t>into</a:t>
            </a:r>
            <a:r>
              <a:rPr lang="fr-FR"/>
              <a:t> </a:t>
            </a:r>
            <a:r>
              <a:rPr lang="fr-FR" err="1"/>
              <a:t>devops</a:t>
            </a:r>
            <a:endParaRPr lang="fr-FR" err="1"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3" y="1633261"/>
            <a:ext cx="11189325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/>
              <a:t>Work on a basic </a:t>
            </a:r>
            <a:r>
              <a:rPr lang="fr-FR" sz="2000" err="1"/>
              <a:t>Golang</a:t>
            </a:r>
            <a:r>
              <a:rPr lang="fr-FR" sz="2000"/>
              <a:t> web server (</a:t>
            </a:r>
            <a:r>
              <a:rPr lang="fr-FR" sz="2000" err="1"/>
              <a:t>language</a:t>
            </a:r>
            <a:r>
              <a:rPr lang="fr-FR" sz="2000"/>
              <a:t>, </a:t>
            </a:r>
            <a:r>
              <a:rPr lang="fr-FR" sz="2000" err="1"/>
              <a:t>build</a:t>
            </a:r>
            <a:r>
              <a:rPr lang="fr-FR" sz="2000"/>
              <a:t>, run, test)</a:t>
            </a:r>
          </a:p>
          <a:p>
            <a:pPr>
              <a:lnSpc>
                <a:spcPct val="150000"/>
              </a:lnSpc>
            </a:pPr>
            <a:endParaRPr lang="fr-FR" sz="2000"/>
          </a:p>
          <a:p>
            <a:pPr>
              <a:lnSpc>
                <a:spcPct val="150000"/>
              </a:lnSpc>
            </a:pPr>
            <a:r>
              <a:rPr lang="fr-FR" sz="2000"/>
              <a:t>REST API </a:t>
            </a:r>
            <a:r>
              <a:rPr lang="fr-FR" sz="2000" err="1"/>
              <a:t>specification</a:t>
            </a:r>
            <a:r>
              <a:rPr lang="fr-FR" sz="2000"/>
              <a:t> </a:t>
            </a:r>
            <a:r>
              <a:rPr lang="fr-FR" sz="2000" err="1"/>
              <a:t>with</a:t>
            </a:r>
            <a:r>
              <a:rPr lang="fr-FR" sz="2000"/>
              <a:t> </a:t>
            </a:r>
            <a:r>
              <a:rPr lang="fr-FR" sz="2000" err="1"/>
              <a:t>OpenAPI</a:t>
            </a:r>
            <a:r>
              <a:rPr lang="fr-FR" sz="2000"/>
              <a:t> v3 and </a:t>
            </a:r>
            <a:r>
              <a:rPr lang="fr-FR" sz="2000" err="1"/>
              <a:t>its</a:t>
            </a:r>
            <a:r>
              <a:rPr lang="fr-FR" sz="2000"/>
              <a:t> UI</a:t>
            </a:r>
            <a:endParaRPr lang="fr-FR" sz="200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/>
          </a:p>
          <a:p>
            <a:pPr>
              <a:lnSpc>
                <a:spcPct val="150000"/>
              </a:lnSpc>
            </a:pPr>
            <a:r>
              <a:rPr lang="fr-FR" sz="2000"/>
              <a:t>Learning Docker to package, </a:t>
            </a:r>
            <a:r>
              <a:rPr lang="fr-FR" sz="2000" err="1"/>
              <a:t>distribute</a:t>
            </a:r>
            <a:r>
              <a:rPr lang="fr-FR" sz="2000"/>
              <a:t> and run the app</a:t>
            </a:r>
          </a:p>
          <a:p>
            <a:pPr>
              <a:lnSpc>
                <a:spcPct val="150000"/>
              </a:lnSpc>
            </a:pPr>
            <a:endParaRPr lang="fr-FR" sz="2000"/>
          </a:p>
          <a:p>
            <a:pPr>
              <a:lnSpc>
                <a:spcPct val="150000"/>
              </a:lnSpc>
            </a:pPr>
            <a:r>
              <a:rPr lang="fr-FR" sz="2000" err="1"/>
              <a:t>Leverage</a:t>
            </a:r>
            <a:r>
              <a:rPr lang="fr-FR" sz="2000"/>
              <a:t> GitHub Actions to automate all </a:t>
            </a:r>
            <a:r>
              <a:rPr lang="fr-FR" sz="2000" err="1"/>
              <a:t>into</a:t>
            </a:r>
            <a:r>
              <a:rPr lang="fr-FR" sz="2000"/>
              <a:t> a CI/CD pipeline</a:t>
            </a:r>
            <a:endParaRPr lang="fr-FR" sz="200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/>
          </a:p>
          <a:p>
            <a:pPr>
              <a:lnSpc>
                <a:spcPct val="150000"/>
              </a:lnSpc>
            </a:pPr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41679438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8</TotalTime>
  <Words>439</Words>
  <Application>Microsoft Office PowerPoint</Application>
  <PresentationFormat>Widescreen</PresentationFormat>
  <Paragraphs>89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Celestial</vt:lpstr>
      <vt:lpstr>DEVOPS</vt:lpstr>
      <vt:lpstr>« traditional » software teams organisation</vt:lpstr>
      <vt:lpstr>Critique</vt:lpstr>
      <vt:lpstr>DEVOPS teams organisation</vt:lpstr>
      <vt:lpstr>Critique</vt:lpstr>
      <vt:lpstr>Everything as code</vt:lpstr>
      <vt:lpstr>devops typical products</vt:lpstr>
      <vt:lpstr>devops tech stack</vt:lpstr>
      <vt:lpstr>devops tech stack</vt:lpstr>
      <vt:lpstr>Our journey into devops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/>
  <cp:lastModifiedBy>Georges MATHIO</cp:lastModifiedBy>
  <cp:revision>28</cp:revision>
  <dcterms:created xsi:type="dcterms:W3CDTF">2023-10-26T12:54:23Z</dcterms:created>
  <dcterms:modified xsi:type="dcterms:W3CDTF">2024-07-18T11:45:34Z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